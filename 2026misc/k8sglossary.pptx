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5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3" r:id="rId11"/>
    <p:sldId id="294" r:id="rId12"/>
    <p:sldId id="295" r:id="rId13"/>
    <p:sldId id="283" r:id="rId14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326CE5"/>
    <a:srgbClr val="FF9933"/>
    <a:srgbClr val="C60036"/>
    <a:srgbClr val="8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13" autoAdjust="0"/>
    <p:restoredTop sz="88336" autoAdjust="0"/>
  </p:normalViewPr>
  <p:slideViewPr>
    <p:cSldViewPr snapToGrid="0">
      <p:cViewPr varScale="1">
        <p:scale>
          <a:sx n="114" d="100"/>
          <a:sy n="114" d="100"/>
        </p:scale>
        <p:origin x="509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-2658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0DDE668-1C34-46D8-8C87-45DBD7915F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476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DDE668-1C34-46D8-8C87-45DBD7915FB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03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D744C-E616-AE46-3AA6-8C86BEF1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72683-761E-2115-09AB-555C45F37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85B58-AEC7-21D9-9AE4-07295FCC8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C3A32-C691-3C7D-5DD9-C5228BDD9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DDE668-1C34-46D8-8C87-45DBD7915FB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10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HTC_logo_color_vert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514" y="436960"/>
            <a:ext cx="2211387" cy="941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 descr="C:\Users\vmuser\Desktop\HTCondor_red_blk_nota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226" y="1494235"/>
            <a:ext cx="2708275" cy="479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6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33258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830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160934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505200" y="4869657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4BF044-77D7-4194-95AC-E462B665E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979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25178"/>
            <a:ext cx="3810000" cy="28039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25178"/>
            <a:ext cx="3810000" cy="28039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67600" y="4686300"/>
            <a:ext cx="990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DFF8D-01C6-456E-8402-4011AB2E71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68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505200" y="4869657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8208D-0250-4ED8-9CAC-6A438104E5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4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505200" y="4869657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16ACA-F66D-42EC-9687-31F200158F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34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505200" y="4869657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2BB8D-2BA2-4A87-8345-E04FA754A0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21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910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505200" y="4869657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7B0B7-E75A-45E6-8334-DC3A57A259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60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3771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3771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3505200" y="4869657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E83DE-4924-4CEB-B587-40D68EDCBA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42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7228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2263" y="1016794"/>
            <a:ext cx="8399462" cy="3170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0" r:id="rId3"/>
    <p:sldLayoutId id="2147483739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40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C60036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C60036"/>
          </a:solidFill>
          <a:latin typeface="Arial" charset="0"/>
          <a:ea typeface="MS PGothic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C60036"/>
          </a:solidFill>
          <a:latin typeface="Arial" charset="0"/>
          <a:ea typeface="MS PGothic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C60036"/>
          </a:solidFill>
          <a:latin typeface="Arial" charset="0"/>
          <a:ea typeface="MS PGothic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C60036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Comic Sans MS" charset="0"/>
          <a:ea typeface="ＭＳ Ｐゴシック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Comic Sans MS" charset="0"/>
          <a:ea typeface="ＭＳ Ｐゴシック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Comic Sans MS" charset="0"/>
          <a:ea typeface="ＭＳ Ｐゴシック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CC"/>
          </a:solidFill>
          <a:latin typeface="Comic Sans MS" charset="0"/>
          <a:ea typeface="ＭＳ Ｐゴシック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808000"/>
        </a:buClr>
        <a:buSzPct val="120000"/>
        <a:buChar char="›"/>
        <a:defRPr sz="3200">
          <a:solidFill>
            <a:schemeClr val="tx1"/>
          </a:solidFill>
          <a:latin typeface="+mn-lt"/>
          <a:ea typeface="MS PGothic" pitchFamily="34" charset="-128"/>
          <a:cs typeface="MS PGothic" pitchFamily="34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90000"/>
        <a:buFont typeface="Marlett" pitchFamily="2" charset="2"/>
        <a:buChar char="h"/>
        <a:defRPr sz="2800">
          <a:solidFill>
            <a:schemeClr val="tx1"/>
          </a:solidFill>
          <a:latin typeface="+mn-lt"/>
          <a:ea typeface="MS PGothic" pitchFamily="34" charset="-128"/>
          <a:cs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8637"/>
            <a:ext cx="7772400" cy="1961002"/>
          </a:xfrm>
        </p:spPr>
        <p:txBody>
          <a:bodyPr/>
          <a:lstStyle/>
          <a:p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k8s glossary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8712" y="3736944"/>
            <a:ext cx="6400800" cy="675838"/>
          </a:xfrm>
        </p:spPr>
        <p:txBody>
          <a:bodyPr/>
          <a:lstStyle/>
          <a:p>
            <a:r>
              <a:rPr lang="en-US" dirty="0"/>
              <a:t>Greg Thain</a:t>
            </a:r>
          </a:p>
        </p:txBody>
      </p:sp>
    </p:spTree>
    <p:extLst>
      <p:ext uri="{BB962C8B-B14F-4D97-AF65-F5344CB8AC3E}">
        <p14:creationId xmlns:p14="http://schemas.microsoft.com/office/powerpoint/2010/main" val="1409769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70ED95-F2CC-E9C5-D582-D47900F48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454" y="1244808"/>
            <a:ext cx="8375530" cy="75249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"All models are wrong, some useful"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D8226B-3814-436E-CB35-C1751CD21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rules!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B57A4F-7124-F1AC-C1DF-A86B48FC3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15" y="782332"/>
            <a:ext cx="1028472" cy="1546822"/>
          </a:xfrm>
          <a:prstGeom prst="rect">
            <a:avLst/>
          </a:prstGeom>
        </p:spPr>
      </p:pic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34A1DDD8-3890-608F-6F89-8AFB26C22D05}"/>
              </a:ext>
            </a:extLst>
          </p:cNvPr>
          <p:cNvSpPr txBox="1">
            <a:spLocks/>
          </p:cNvSpPr>
          <p:nvPr/>
        </p:nvSpPr>
        <p:spPr bwMode="auto">
          <a:xfrm>
            <a:off x="460560" y="2888162"/>
            <a:ext cx="8375530" cy="75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8000"/>
              </a:buClr>
              <a:buSzPct val="120000"/>
              <a:buChar char="›"/>
              <a:defRPr sz="3200">
                <a:solidFill>
                  <a:schemeClr val="tx1"/>
                </a:solidFill>
                <a:latin typeface="+mn-lt"/>
                <a:ea typeface="MS PGothic" pitchFamily="34" charset="-128"/>
                <a:cs typeface="MS PGothic" pitchFamily="34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90000"/>
              <a:buFont typeface="Marlett" pitchFamily="2" charset="2"/>
              <a:buChar char="h"/>
              <a:defRPr sz="2800">
                <a:solidFill>
                  <a:schemeClr val="tx1"/>
                </a:solidFill>
                <a:latin typeface="+mn-lt"/>
                <a:ea typeface="MS PGothic" pitchFamily="34" charset="-128"/>
                <a:cs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kern="0" dirty="0"/>
              <a:t>Um, actually rule in effect</a:t>
            </a:r>
          </a:p>
        </p:txBody>
      </p:sp>
    </p:spTree>
    <p:extLst>
      <p:ext uri="{BB962C8B-B14F-4D97-AF65-F5344CB8AC3E}">
        <p14:creationId xmlns:p14="http://schemas.microsoft.com/office/powerpoint/2010/main" val="549942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D6968B-24B9-E391-83CC-023818E1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K8s uses a central </a:t>
            </a:r>
            <a:r>
              <a:rPr lang="en-US" dirty="0" err="1"/>
              <a:t>db</a:t>
            </a:r>
            <a:endParaRPr lang="en-US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8D59D970-185B-99DB-4BA2-5EB496EB0924}"/>
              </a:ext>
            </a:extLst>
          </p:cNvPr>
          <p:cNvSpPr/>
          <p:nvPr/>
        </p:nvSpPr>
        <p:spPr bwMode="auto">
          <a:xfrm>
            <a:off x="6282458" y="1434709"/>
            <a:ext cx="2146041" cy="2799183"/>
          </a:xfrm>
          <a:prstGeom prst="can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9EE571D-3170-A603-5FEC-226FB18117E3}"/>
              </a:ext>
            </a:extLst>
          </p:cNvPr>
          <p:cNvSpPr/>
          <p:nvPr/>
        </p:nvSpPr>
        <p:spPr bwMode="auto">
          <a:xfrm>
            <a:off x="262551" y="3898859"/>
            <a:ext cx="1068308" cy="1077417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Thing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1A5093-0D0B-EDE9-6288-4D92C15FAF97}"/>
              </a:ext>
            </a:extLst>
          </p:cNvPr>
          <p:cNvSpPr/>
          <p:nvPr/>
        </p:nvSpPr>
        <p:spPr bwMode="auto">
          <a:xfrm>
            <a:off x="6627137" y="2565491"/>
            <a:ext cx="1394233" cy="3693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Thing record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1E6C46D-7CFE-AC48-ED5C-16F6D1EE2E92}"/>
              </a:ext>
            </a:extLst>
          </p:cNvPr>
          <p:cNvSpPr/>
          <p:nvPr/>
        </p:nvSpPr>
        <p:spPr bwMode="auto">
          <a:xfrm>
            <a:off x="1819762" y="1038815"/>
            <a:ext cx="2083561" cy="1511929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ＭＳ Ｐゴシック" charset="0"/>
              </a:rPr>
              <a:t>Thing description</a:t>
            </a:r>
          </a:p>
        </p:txBody>
      </p:sp>
    </p:spTree>
    <p:extLst>
      <p:ext uri="{BB962C8B-B14F-4D97-AF65-F5344CB8AC3E}">
        <p14:creationId xmlns:p14="http://schemas.microsoft.com/office/powerpoint/2010/main" val="34352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E9AFBE-0BEB-40B5-220D-45C50B676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Pod Example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3E261B5-517C-3CE5-141B-32E2DF35D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1953" y="914399"/>
            <a:ext cx="5781512" cy="38477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Pod is locus of work</a:t>
            </a:r>
          </a:p>
          <a:p>
            <a:pPr marL="0" indent="0">
              <a:buNone/>
            </a:pPr>
            <a:r>
              <a:rPr lang="en-US" dirty="0"/>
              <a:t>Pod is incomplete (intentionally)</a:t>
            </a:r>
          </a:p>
          <a:p>
            <a:pPr marL="0" indent="0">
              <a:buNone/>
            </a:pPr>
            <a:r>
              <a:rPr lang="en-US" dirty="0"/>
              <a:t>Pod cannot span machines</a:t>
            </a:r>
          </a:p>
          <a:p>
            <a:pPr marL="0" indent="0">
              <a:buNone/>
            </a:pPr>
            <a:r>
              <a:rPr lang="en-US" dirty="0"/>
              <a:t>Pod only runs containers</a:t>
            </a:r>
          </a:p>
          <a:p>
            <a:pPr marL="0" indent="0">
              <a:buNone/>
            </a:pPr>
            <a:r>
              <a:rPr lang="en-US" dirty="0"/>
              <a:t>Pod can have &gt; 1 container</a:t>
            </a:r>
          </a:p>
          <a:p>
            <a:pPr marL="0" indent="0">
              <a:buNone/>
            </a:pPr>
            <a:r>
              <a:rPr lang="en-US" dirty="0"/>
              <a:t>Pod is not like Condor Job</a:t>
            </a:r>
          </a:p>
          <a:p>
            <a:pPr marL="0" indent="0">
              <a:buNone/>
            </a:pPr>
            <a:r>
              <a:rPr lang="en-US" dirty="0"/>
              <a:t>	no "queue N"</a:t>
            </a:r>
          </a:p>
          <a:p>
            <a:pPr marL="0" indent="0">
              <a:buNone/>
            </a:pPr>
            <a:r>
              <a:rPr lang="en-US" dirty="0"/>
              <a:t>	pod picks its entity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AA180-9296-5ED8-4440-B3ADDB8D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36" y="1169789"/>
            <a:ext cx="2871216" cy="28039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8196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99B1A-B881-3879-FE3D-A3D49EBB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4DDAE0-B59B-903C-DF89-9F7EA7D4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K8s uses a central </a:t>
            </a:r>
            <a:r>
              <a:rPr lang="en-US" dirty="0" err="1"/>
              <a:t>db</a:t>
            </a:r>
            <a:endParaRPr lang="en-US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A3FD4B7B-D97F-118E-1819-1223B4B37FE9}"/>
              </a:ext>
            </a:extLst>
          </p:cNvPr>
          <p:cNvSpPr/>
          <p:nvPr/>
        </p:nvSpPr>
        <p:spPr bwMode="auto">
          <a:xfrm>
            <a:off x="6282458" y="1434709"/>
            <a:ext cx="2146041" cy="2799183"/>
          </a:xfrm>
          <a:prstGeom prst="can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7FE87B-C726-4CFC-E8B0-AD7DEF1D3ADA}"/>
              </a:ext>
            </a:extLst>
          </p:cNvPr>
          <p:cNvSpPr/>
          <p:nvPr/>
        </p:nvSpPr>
        <p:spPr bwMode="auto">
          <a:xfrm>
            <a:off x="6627137" y="2565491"/>
            <a:ext cx="1394233" cy="369361"/>
          </a:xfrm>
          <a:prstGeom prst="rect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Pod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record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charset="0"/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EF737A3C-2A87-1291-BDA2-0396ABFB1B48}"/>
              </a:ext>
            </a:extLst>
          </p:cNvPr>
          <p:cNvSpPr/>
          <p:nvPr/>
        </p:nvSpPr>
        <p:spPr bwMode="auto">
          <a:xfrm>
            <a:off x="1819762" y="1038815"/>
            <a:ext cx="2417260" cy="1526676"/>
          </a:xfrm>
          <a:prstGeom prst="foldedCorner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>
                <a:solidFill>
                  <a:schemeClr val="bg1"/>
                </a:solidFill>
                <a:latin typeface="+mn-lt"/>
                <a:ea typeface="ＭＳ Ｐゴシック" charset="0"/>
              </a:rPr>
              <a:t>Pod description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metadata:  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	name: </a:t>
            </a:r>
            <a:r>
              <a:rPr lang="en-US" sz="8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my_pod</a:t>
            </a:r>
            <a:endParaRPr lang="en-US" sz="8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spec: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</a:t>
            </a:r>
            <a:r>
              <a:rPr lang="en-US" sz="8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container_image</a:t>
            </a:r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: fedora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</a:t>
            </a:r>
            <a:r>
              <a:rPr lang="en-US" sz="8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resources_requests</a:t>
            </a:r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:         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         memory: "64M"         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         </a:t>
            </a:r>
            <a:r>
              <a:rPr lang="en-US" sz="8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cpu</a:t>
            </a:r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: "2"</a:t>
            </a:r>
          </a:p>
          <a:p>
            <a:endParaRPr lang="en-US" sz="24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72AFFD-7BA5-A584-BB07-0AC524CF6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26" y="3770354"/>
            <a:ext cx="1265102" cy="12354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071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7A6A33CB-9D8A-0EFB-3D1B-9DFF42370E8E}"/>
              </a:ext>
            </a:extLst>
          </p:cNvPr>
          <p:cNvSpPr/>
          <p:nvPr/>
        </p:nvSpPr>
        <p:spPr bwMode="auto">
          <a:xfrm>
            <a:off x="600881" y="127398"/>
            <a:ext cx="7942238" cy="5016102"/>
          </a:xfrm>
          <a:prstGeom prst="foldedCorner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Pod description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metadata: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  <a:r>
              <a:rPr lang="en-US" sz="2400" b="1" i="1" dirty="0">
                <a:solidFill>
                  <a:schemeClr val="bg1"/>
                </a:solidFill>
                <a:latin typeface="+mn-lt"/>
                <a:ea typeface="ＭＳ Ｐゴシック" charset="0"/>
              </a:rPr>
              <a:t>name: </a:t>
            </a:r>
            <a:r>
              <a:rPr lang="en-US" sz="2400" b="1" i="1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my_pod</a:t>
            </a:r>
            <a:endParaRPr lang="en-US" sz="2400" b="1" i="1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spec: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</a:t>
            </a:r>
            <a:r>
              <a:rPr lang="en-US" sz="24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container_image</a:t>
            </a: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: fedora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</a:t>
            </a:r>
            <a:r>
              <a:rPr lang="en-US" sz="24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resources_requests</a:t>
            </a: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:      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         memory: "64M"      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         </a:t>
            </a:r>
            <a:r>
              <a:rPr lang="en-US" sz="24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cpu</a:t>
            </a: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: "2"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435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C0D6C-378D-AE12-6A81-AF8BBF11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6FEC1A-6EEF-0DBA-C283-8B3DC91D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K8s uses a central </a:t>
            </a:r>
            <a:r>
              <a:rPr lang="en-US" dirty="0" err="1"/>
              <a:t>db</a:t>
            </a:r>
            <a:endParaRPr lang="en-US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C857D992-4137-DCD1-36F3-24B692957821}"/>
              </a:ext>
            </a:extLst>
          </p:cNvPr>
          <p:cNvSpPr/>
          <p:nvPr/>
        </p:nvSpPr>
        <p:spPr bwMode="auto">
          <a:xfrm>
            <a:off x="6282458" y="1434709"/>
            <a:ext cx="2146041" cy="2799183"/>
          </a:xfrm>
          <a:prstGeom prst="can">
            <a:avLst/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6CF85-7230-8E78-D7BF-40CF132EB98C}"/>
              </a:ext>
            </a:extLst>
          </p:cNvPr>
          <p:cNvSpPr/>
          <p:nvPr/>
        </p:nvSpPr>
        <p:spPr bwMode="auto">
          <a:xfrm>
            <a:off x="6627137" y="2565491"/>
            <a:ext cx="1394233" cy="369361"/>
          </a:xfrm>
          <a:prstGeom prst="rect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Pod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record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charset="0"/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DB5253C5-7B02-6D82-2871-067D768217F1}"/>
              </a:ext>
            </a:extLst>
          </p:cNvPr>
          <p:cNvSpPr/>
          <p:nvPr/>
        </p:nvSpPr>
        <p:spPr bwMode="auto">
          <a:xfrm>
            <a:off x="1819762" y="1038815"/>
            <a:ext cx="2417260" cy="1526676"/>
          </a:xfrm>
          <a:prstGeom prst="foldedCorner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dirty="0">
                <a:solidFill>
                  <a:schemeClr val="bg1"/>
                </a:solidFill>
                <a:latin typeface="+mn-lt"/>
                <a:ea typeface="ＭＳ Ｐゴシック" charset="0"/>
              </a:rPr>
              <a:t>Pod description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metadata:  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	name: </a:t>
            </a:r>
            <a:r>
              <a:rPr lang="en-US" sz="8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my_pod</a:t>
            </a:r>
            <a:endParaRPr lang="en-US" sz="8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spec: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</a:t>
            </a:r>
            <a:r>
              <a:rPr lang="en-US" sz="8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container_image</a:t>
            </a:r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: fedora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</a:t>
            </a:r>
            <a:r>
              <a:rPr lang="en-US" sz="8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resources_requests</a:t>
            </a:r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:         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         memory: "64M"         </a:t>
            </a:r>
          </a:p>
          <a:p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         </a:t>
            </a:r>
            <a:r>
              <a:rPr lang="en-US" sz="8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cpu</a:t>
            </a:r>
            <a:r>
              <a:rPr lang="en-US" sz="800" dirty="0">
                <a:solidFill>
                  <a:schemeClr val="bg1"/>
                </a:solidFill>
                <a:latin typeface="+mn-lt"/>
                <a:ea typeface="ＭＳ Ｐゴシック" charset="0"/>
              </a:rPr>
              <a:t>: "2"</a:t>
            </a:r>
          </a:p>
          <a:p>
            <a:endParaRPr lang="en-US" sz="2400" dirty="0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FEDB7D-77E9-8AA6-638C-8968E0757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26" y="3770354"/>
            <a:ext cx="1265102" cy="12354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4003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ylinder 6">
            <a:extLst>
              <a:ext uri="{FF2B5EF4-FFF2-40B4-BE49-F238E27FC236}">
                <a16:creationId xmlns:a16="http://schemas.microsoft.com/office/drawing/2014/main" id="{C45A5506-C01B-1B61-A201-765A519DBDFE}"/>
              </a:ext>
            </a:extLst>
          </p:cNvPr>
          <p:cNvSpPr/>
          <p:nvPr/>
        </p:nvSpPr>
        <p:spPr bwMode="auto">
          <a:xfrm>
            <a:off x="3865830" y="190123"/>
            <a:ext cx="4562670" cy="4879818"/>
          </a:xfrm>
          <a:prstGeom prst="can">
            <a:avLst>
              <a:gd name="adj" fmla="val 12301"/>
            </a:avLst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B8014-08FA-D2A9-D03C-23F021D80FD3}"/>
              </a:ext>
            </a:extLst>
          </p:cNvPr>
          <p:cNvSpPr/>
          <p:nvPr/>
        </p:nvSpPr>
        <p:spPr bwMode="auto">
          <a:xfrm>
            <a:off x="4065007" y="1023042"/>
            <a:ext cx="3956364" cy="3422209"/>
          </a:xfrm>
          <a:prstGeom prst="rect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Pod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record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Name: </a:t>
            </a:r>
            <a:r>
              <a:rPr lang="en-US" sz="16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my_pod</a:t>
            </a:r>
            <a:endParaRPr lang="en-US" sz="16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Spec</a:t>
            </a: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Memory: 64M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  <a:r>
              <a:rPr lang="en-US" sz="16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cpus</a:t>
            </a: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: 2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Status: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Host: ep1000.chtc.wisc.edu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State: Running</a:t>
            </a:r>
            <a:b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</a:b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  <a:r>
              <a:rPr lang="en-US" sz="16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memory_usage</a:t>
            </a: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: 32M</a:t>
            </a:r>
            <a:b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</a:b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232783-0D75-6D1D-CE73-FEB232243C89}"/>
              </a:ext>
            </a:extLst>
          </p:cNvPr>
          <p:cNvCxnSpPr>
            <a:cxnSpLocks/>
            <a:stCxn id="10" idx="2"/>
          </p:cNvCxnSpPr>
          <p:nvPr/>
        </p:nvCxnSpPr>
        <p:spPr bwMode="auto">
          <a:xfrm>
            <a:off x="1190532" y="1416868"/>
            <a:ext cx="2874474" cy="1317279"/>
          </a:xfrm>
          <a:prstGeom prst="straightConnector1">
            <a:avLst/>
          </a:prstGeom>
          <a:ln w="539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4368D9-6899-B843-5A8B-0D5E17F2A7CC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2381063" y="1149791"/>
            <a:ext cx="1683943" cy="267077"/>
          </a:xfrm>
          <a:prstGeom prst="straightConnector1">
            <a:avLst/>
          </a:prstGeom>
          <a:ln w="539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FC9817D0-12D6-7D43-3F82-F4FF54703CA1}"/>
              </a:ext>
            </a:extLst>
          </p:cNvPr>
          <p:cNvSpPr/>
          <p:nvPr/>
        </p:nvSpPr>
        <p:spPr bwMode="auto">
          <a:xfrm>
            <a:off x="0" y="882714"/>
            <a:ext cx="2381063" cy="534154"/>
          </a:xfrm>
          <a:prstGeom prst="flowChartPreparation">
            <a:avLst/>
          </a:prstGeom>
          <a:solidFill>
            <a:srgbClr val="00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Controller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0025A5-C197-C352-C8EC-276D0D881273}"/>
              </a:ext>
            </a:extLst>
          </p:cNvPr>
          <p:cNvSpPr txBox="1"/>
          <p:nvPr/>
        </p:nvSpPr>
        <p:spPr>
          <a:xfrm>
            <a:off x="235389" y="1937441"/>
            <a:ext cx="29514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n-lt"/>
              </a:rPr>
              <a:t>Controller</a:t>
            </a:r>
          </a:p>
          <a:p>
            <a:r>
              <a:rPr lang="en-US" dirty="0">
                <a:latin typeface="+mn-lt"/>
              </a:rPr>
              <a:t>Works to make status match spec</a:t>
            </a:r>
          </a:p>
        </p:txBody>
      </p:sp>
    </p:spTree>
    <p:extLst>
      <p:ext uri="{BB962C8B-B14F-4D97-AF65-F5344CB8AC3E}">
        <p14:creationId xmlns:p14="http://schemas.microsoft.com/office/powerpoint/2010/main" val="3860170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D7C404-044D-45BA-7BA6-816975DE3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class entity in k8s</a:t>
            </a:r>
          </a:p>
          <a:p>
            <a:r>
              <a:rPr lang="en-US" dirty="0"/>
              <a:t>Have a Deployment Language, Record</a:t>
            </a:r>
          </a:p>
          <a:p>
            <a:r>
              <a:rPr lang="en-US" dirty="0"/>
              <a:t>Deployments create pods</a:t>
            </a:r>
          </a:p>
          <a:p>
            <a:r>
              <a:rPr lang="en-US" dirty="0"/>
              <a:t>If pods =!= jobs,</a:t>
            </a:r>
          </a:p>
          <a:p>
            <a:pPr lvl="1"/>
            <a:r>
              <a:rPr lang="en-US" dirty="0"/>
              <a:t>Deployments =!= </a:t>
            </a:r>
            <a:r>
              <a:rPr lang="en-US" dirty="0" err="1"/>
              <a:t>dagman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70BDBB-CC43-88CF-7892-837C0E33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K8s "Deployments"</a:t>
            </a:r>
          </a:p>
        </p:txBody>
      </p:sp>
    </p:spTree>
    <p:extLst>
      <p:ext uri="{BB962C8B-B14F-4D97-AF65-F5344CB8AC3E}">
        <p14:creationId xmlns:p14="http://schemas.microsoft.com/office/powerpoint/2010/main" val="331268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54317-8F51-AC32-225A-3AD88C190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F6E3512-FD3E-F91E-82F2-956332838CD2}"/>
              </a:ext>
            </a:extLst>
          </p:cNvPr>
          <p:cNvSpPr/>
          <p:nvPr/>
        </p:nvSpPr>
        <p:spPr bwMode="auto">
          <a:xfrm>
            <a:off x="600881" y="127398"/>
            <a:ext cx="7942238" cy="5016102"/>
          </a:xfrm>
          <a:prstGeom prst="foldedCorner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Deployment description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metadata: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name: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my_deployment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spec: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replicas: 3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template: 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spec:     </a:t>
            </a:r>
            <a:r>
              <a:rPr lang="en-US" sz="2400" dirty="0">
                <a:solidFill>
                  <a:schemeClr val="bg1"/>
                </a:solidFill>
                <a:latin typeface="+mn-lt"/>
                <a:ea typeface="ＭＳ Ｐゴシック" charset="0"/>
              </a:rPr>
              <a:t>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    &lt; a full pod PDL goes here&gt;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2EAB3A-BD0B-E1C7-112D-A93E2DCE27E7}"/>
              </a:ext>
            </a:extLst>
          </p:cNvPr>
          <p:cNvSpPr txBox="1"/>
          <p:nvPr/>
        </p:nvSpPr>
        <p:spPr>
          <a:xfrm>
            <a:off x="3494639" y="787652"/>
            <a:ext cx="4916032" cy="175432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Note: Pods have no name</a:t>
            </a:r>
          </a:p>
          <a:p>
            <a:r>
              <a:rPr lang="en-US" sz="2000" dirty="0">
                <a:latin typeface="+mn-lt"/>
              </a:rPr>
              <a:t> deployment create 3 pods with name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000" i="1" dirty="0" err="1">
                <a:latin typeface="+mn-lt"/>
              </a:rPr>
              <a:t>my_deployment_randomstring</a:t>
            </a:r>
            <a:endParaRPr lang="en-US" sz="2000" i="1" dirty="0">
              <a:latin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180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3E083-3CF1-1D91-D2DC-195D79C8F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ylinder 6">
            <a:extLst>
              <a:ext uri="{FF2B5EF4-FFF2-40B4-BE49-F238E27FC236}">
                <a16:creationId xmlns:a16="http://schemas.microsoft.com/office/drawing/2014/main" id="{465ED1F0-B5AB-F103-529D-AB01D9395764}"/>
              </a:ext>
            </a:extLst>
          </p:cNvPr>
          <p:cNvSpPr/>
          <p:nvPr/>
        </p:nvSpPr>
        <p:spPr bwMode="auto">
          <a:xfrm>
            <a:off x="3761854" y="231617"/>
            <a:ext cx="4562670" cy="4879818"/>
          </a:xfrm>
          <a:prstGeom prst="can">
            <a:avLst>
              <a:gd name="adj" fmla="val 12301"/>
            </a:avLst>
          </a:prstGeom>
          <a:solidFill>
            <a:schemeClr val="tx2">
              <a:lumMod val="10000"/>
              <a:lumOff val="9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ＭＳ Ｐゴシック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BCB57C-4193-0616-1F21-67B133D98207}"/>
              </a:ext>
            </a:extLst>
          </p:cNvPr>
          <p:cNvSpPr/>
          <p:nvPr/>
        </p:nvSpPr>
        <p:spPr bwMode="auto">
          <a:xfrm>
            <a:off x="4065007" y="1023042"/>
            <a:ext cx="3956364" cy="2444435"/>
          </a:xfrm>
          <a:prstGeom prst="rect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deployment</a:t>
            </a: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record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Name: </a:t>
            </a:r>
            <a:r>
              <a:rPr lang="en-US" sz="16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my_deployment</a:t>
            </a:r>
            <a:endParaRPr lang="en-US" sz="16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Spec</a:t>
            </a: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Replicas: 3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template: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     &lt;</a:t>
            </a:r>
            <a:r>
              <a:rPr lang="en-US" sz="16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pod_template</a:t>
            </a: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&gt;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Status: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  <a:r>
              <a:rPr lang="en-US" sz="16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created_pods</a:t>
            </a: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: 3</a:t>
            </a:r>
            <a:b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</a:b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4EE9CD-AD20-9F14-CACB-C16AEE74A7F7}"/>
              </a:ext>
            </a:extLst>
          </p:cNvPr>
          <p:cNvCxnSpPr>
            <a:cxnSpLocks/>
          </p:cNvCxnSpPr>
          <p:nvPr/>
        </p:nvCxnSpPr>
        <p:spPr bwMode="auto">
          <a:xfrm>
            <a:off x="1317279" y="1774479"/>
            <a:ext cx="2747727" cy="986827"/>
          </a:xfrm>
          <a:prstGeom prst="straightConnector1">
            <a:avLst/>
          </a:prstGeom>
          <a:ln w="539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A1AF33-0CE3-1F2B-3997-2E4F311D1685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2634558" y="1315017"/>
            <a:ext cx="1430448" cy="101851"/>
          </a:xfrm>
          <a:prstGeom prst="straightConnector1">
            <a:avLst/>
          </a:prstGeom>
          <a:ln w="539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54FBCD42-F366-C9DE-E0D0-AAD80FB5488F}"/>
              </a:ext>
            </a:extLst>
          </p:cNvPr>
          <p:cNvSpPr/>
          <p:nvPr/>
        </p:nvSpPr>
        <p:spPr bwMode="auto">
          <a:xfrm>
            <a:off x="0" y="882714"/>
            <a:ext cx="2634558" cy="864606"/>
          </a:xfrm>
          <a:prstGeom prst="flowChartPreparation">
            <a:avLst/>
          </a:prstGeom>
          <a:solidFill>
            <a:srgbClr val="00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Deployment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Controller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E05D5C-C607-0FA8-6F4A-B35F0C9EB72E}"/>
              </a:ext>
            </a:extLst>
          </p:cNvPr>
          <p:cNvSpPr txBox="1"/>
          <p:nvPr/>
        </p:nvSpPr>
        <p:spPr>
          <a:xfrm>
            <a:off x="235389" y="1937441"/>
            <a:ext cx="29514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+mn-lt"/>
              </a:rPr>
              <a:t>Depoyment</a:t>
            </a:r>
            <a:r>
              <a:rPr lang="en-US" dirty="0">
                <a:latin typeface="+mn-lt"/>
              </a:rPr>
              <a:t> controller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Creates pods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6ADA98-96BA-BC06-0049-2D2682E95573}"/>
              </a:ext>
            </a:extLst>
          </p:cNvPr>
          <p:cNvSpPr/>
          <p:nvPr/>
        </p:nvSpPr>
        <p:spPr bwMode="auto">
          <a:xfrm>
            <a:off x="3957119" y="3552730"/>
            <a:ext cx="2760554" cy="1558705"/>
          </a:xfrm>
          <a:prstGeom prst="rect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pod</a:t>
            </a:r>
            <a:r>
              <a:rPr kumimoji="0" lang="en-US" sz="1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record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Name: my_deployment_123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Spec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  &lt;</a:t>
            </a:r>
            <a:r>
              <a:rPr lang="en-US" sz="12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pod_template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&gt;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Status: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  <a:r>
              <a:rPr lang="en-US" sz="12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memory_used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: 32M  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126F62-1BE1-4D4D-5541-5F5DDEAC1F1E}"/>
              </a:ext>
            </a:extLst>
          </p:cNvPr>
          <p:cNvSpPr/>
          <p:nvPr/>
        </p:nvSpPr>
        <p:spPr bwMode="auto">
          <a:xfrm>
            <a:off x="4867705" y="3753323"/>
            <a:ext cx="2760554" cy="1558705"/>
          </a:xfrm>
          <a:prstGeom prst="rect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pod</a:t>
            </a:r>
            <a:r>
              <a:rPr kumimoji="0" lang="en-US" sz="1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record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Name: my_deployment_456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Spec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  &lt;</a:t>
            </a:r>
            <a:r>
              <a:rPr lang="en-US" sz="12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pod_template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&gt;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Status: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  <a:r>
              <a:rPr lang="en-US" sz="12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memory_used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: 32M  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0A5FA4-7056-A0B7-B654-2A2DD6AF2618}"/>
              </a:ext>
            </a:extLst>
          </p:cNvPr>
          <p:cNvSpPr/>
          <p:nvPr/>
        </p:nvSpPr>
        <p:spPr bwMode="auto">
          <a:xfrm>
            <a:off x="5803945" y="3953916"/>
            <a:ext cx="2760554" cy="1558705"/>
          </a:xfrm>
          <a:prstGeom prst="rect">
            <a:avLst/>
          </a:prstGeom>
          <a:solidFill>
            <a:srgbClr val="326CE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pod</a:t>
            </a:r>
            <a:r>
              <a:rPr kumimoji="0" lang="en-US" sz="1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record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Name: my_deployment_679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Spec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  &lt;</a:t>
            </a:r>
            <a:r>
              <a:rPr lang="en-US" sz="12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pod_template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&gt;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bg1"/>
              </a:solidFill>
              <a:latin typeface="+mn-lt"/>
              <a:ea typeface="ＭＳ Ｐゴシック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Status: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     </a:t>
            </a:r>
            <a:r>
              <a:rPr lang="en-US" sz="1200" dirty="0" err="1">
                <a:solidFill>
                  <a:schemeClr val="bg1"/>
                </a:solidFill>
                <a:latin typeface="+mn-lt"/>
                <a:ea typeface="ＭＳ Ｐゴシック" charset="0"/>
              </a:rPr>
              <a:t>memory_used</a:t>
            </a:r>
            <a:r>
              <a:rPr lang="en-US" sz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: 32M   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chemeClr val="bg1"/>
                </a:solidFill>
                <a:latin typeface="+mn-lt"/>
                <a:ea typeface="ＭＳ Ｐゴシック" charset="0"/>
              </a:rPr>
              <a:t>	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 </a:t>
            </a:r>
          </a:p>
        </p:txBody>
      </p:sp>
      <p:sp>
        <p:nvSpPr>
          <p:cNvPr id="16" name="Flowchart: Preparation 15">
            <a:extLst>
              <a:ext uri="{FF2B5EF4-FFF2-40B4-BE49-F238E27FC236}">
                <a16:creationId xmlns:a16="http://schemas.microsoft.com/office/drawing/2014/main" id="{F9EEA205-4F6F-C32D-20FE-8BB3FED06026}"/>
              </a:ext>
            </a:extLst>
          </p:cNvPr>
          <p:cNvSpPr/>
          <p:nvPr/>
        </p:nvSpPr>
        <p:spPr bwMode="auto">
          <a:xfrm>
            <a:off x="443858" y="3953916"/>
            <a:ext cx="2634558" cy="864606"/>
          </a:xfrm>
          <a:prstGeom prst="flowChartPreparation">
            <a:avLst/>
          </a:prstGeom>
          <a:solidFill>
            <a:srgbClr val="0099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charset="0"/>
              </a:rPr>
              <a:t>Pod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1"/>
                </a:solidFill>
                <a:latin typeface="+mn-lt"/>
                <a:ea typeface="ＭＳ Ｐゴシック" charset="0"/>
              </a:rPr>
              <a:t>Controller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493D66-C84A-BFB7-35D1-1B8145897C57}"/>
              </a:ext>
            </a:extLst>
          </p:cNvPr>
          <p:cNvCxnSpPr>
            <a:cxnSpLocks/>
          </p:cNvCxnSpPr>
          <p:nvPr/>
        </p:nvCxnSpPr>
        <p:spPr bwMode="auto">
          <a:xfrm>
            <a:off x="3033706" y="4386219"/>
            <a:ext cx="2778224" cy="146456"/>
          </a:xfrm>
          <a:prstGeom prst="straightConnector1">
            <a:avLst/>
          </a:prstGeom>
          <a:ln w="539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66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/>
      <p:bldP spid="6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DF56BD-A899-4023-82AA-05D454C51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DaemonSet</a:t>
            </a:r>
            <a:r>
              <a:rPr lang="en-US" dirty="0"/>
              <a:t> – one pod per machine</a:t>
            </a:r>
          </a:p>
          <a:p>
            <a:r>
              <a:rPr lang="en-US" dirty="0" err="1"/>
              <a:t>CronJob</a:t>
            </a:r>
            <a:r>
              <a:rPr lang="en-US" dirty="0"/>
              <a:t>      -- </a:t>
            </a:r>
            <a:r>
              <a:rPr lang="en-US" dirty="0" err="1"/>
              <a:t>cronlike</a:t>
            </a:r>
            <a:r>
              <a:rPr lang="en-US" dirty="0"/>
              <a:t> pod running</a:t>
            </a:r>
          </a:p>
          <a:p>
            <a:r>
              <a:rPr lang="en-US" dirty="0" err="1"/>
              <a:t>PodAutoscaler</a:t>
            </a:r>
            <a:r>
              <a:rPr lang="en-US" dirty="0"/>
              <a:t> – on top of Deployment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CE919E-A3BC-46FF-A539-22CD815C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deployments</a:t>
            </a:r>
          </a:p>
        </p:txBody>
      </p:sp>
    </p:spTree>
    <p:extLst>
      <p:ext uri="{BB962C8B-B14F-4D97-AF65-F5344CB8AC3E}">
        <p14:creationId xmlns:p14="http://schemas.microsoft.com/office/powerpoint/2010/main" val="1933623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2271061"/>
      </p:ext>
    </p:extLst>
  </p:cSld>
  <p:clrMapOvr>
    <a:masterClrMapping/>
  </p:clrMapOvr>
</p:sld>
</file>

<file path=ppt/theme/theme1.xml><?xml version="1.0" encoding="utf-8"?>
<a:theme xmlns:a="http://schemas.openxmlformats.org/drawingml/2006/main" name="HTCondor-Presentation-Template">
  <a:themeElements>
    <a:clrScheme name="Spectrum">
      <a:dk1>
        <a:sysClr val="windowText" lastClr="000000"/>
      </a:dk1>
      <a:lt1>
        <a:sysClr val="window" lastClr="FFFFFF"/>
      </a:lt1>
      <a:dk2>
        <a:srgbClr val="252731"/>
      </a:dk2>
      <a:lt2>
        <a:srgbClr val="EAE7E4"/>
      </a:lt2>
      <a:accent1>
        <a:srgbClr val="990000"/>
      </a:accent1>
      <a:accent2>
        <a:srgbClr val="FF6600"/>
      </a:accent2>
      <a:accent3>
        <a:srgbClr val="FFBA00"/>
      </a:accent3>
      <a:accent4>
        <a:srgbClr val="99CC00"/>
      </a:accent4>
      <a:accent5>
        <a:srgbClr val="528A02"/>
      </a:accent5>
      <a:accent6>
        <a:srgbClr val="333333"/>
      </a:accent6>
      <a:hlink>
        <a:srgbClr val="660000"/>
      </a:hlink>
      <a:folHlink>
        <a:srgbClr val="CC330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ＭＳ Ｐゴシック" charset="0"/>
          </a:defRPr>
        </a:defPPr>
      </a:lstStyle>
    </a:lnDef>
  </a:objectDefaults>
  <a:extraClrSchemeLst>
    <a:extraClrScheme>
      <a:clrScheme name="3_CondorNew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ndorNew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ndorNew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ndorNew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ndorNew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ndorNew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ndorNew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HTCondor-Presentation-Template</Template>
  <TotalTime>67464</TotalTime>
  <Words>476</Words>
  <Application>Microsoft Office PowerPoint</Application>
  <PresentationFormat>On-screen Show (16:9)</PresentationFormat>
  <Paragraphs>140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Comic Sans MS</vt:lpstr>
      <vt:lpstr>Marlett</vt:lpstr>
      <vt:lpstr>Times New Roman</vt:lpstr>
      <vt:lpstr>HTCondor-Presentation-Template</vt:lpstr>
      <vt:lpstr> k8s glossary</vt:lpstr>
      <vt:lpstr>Ground rules!</vt:lpstr>
      <vt:lpstr>K8s uses a central db</vt:lpstr>
      <vt:lpstr>Pod Example</vt:lpstr>
      <vt:lpstr>K8s uses a central db</vt:lpstr>
      <vt:lpstr>PowerPoint Presentation</vt:lpstr>
      <vt:lpstr>K8s uses a central db</vt:lpstr>
      <vt:lpstr>PowerPoint Presentation</vt:lpstr>
      <vt:lpstr>K8s "Deployments"</vt:lpstr>
      <vt:lpstr>PowerPoint Presentation</vt:lpstr>
      <vt:lpstr>PowerPoint Presentation</vt:lpstr>
      <vt:lpstr>Other deployments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High Throughput was my cluster?  Greg Thain  Center for High Throughput Computing</dc:title>
  <dc:creator>gthain</dc:creator>
  <cp:lastModifiedBy>Patron</cp:lastModifiedBy>
  <cp:revision>475</cp:revision>
  <dcterms:created xsi:type="dcterms:W3CDTF">2014-04-23T21:43:38Z</dcterms:created>
  <dcterms:modified xsi:type="dcterms:W3CDTF">2026-07-08T19:02:36Z</dcterms:modified>
</cp:coreProperties>
</file>